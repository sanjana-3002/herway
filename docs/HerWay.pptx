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4" r:id="rId2"/>
    <p:sldId id="278" r:id="rId3"/>
    <p:sldId id="257" r:id="rId4"/>
    <p:sldId id="275" r:id="rId5"/>
    <p:sldId id="259" r:id="rId6"/>
    <p:sldId id="260" r:id="rId7"/>
    <p:sldId id="261" r:id="rId8"/>
    <p:sldId id="276" r:id="rId9"/>
    <p:sldId id="262" r:id="rId10"/>
    <p:sldId id="263" r:id="rId11"/>
    <p:sldId id="256" r:id="rId12"/>
    <p:sldId id="277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9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Theft</c:v>
                </c:pt>
                <c:pt idx="1">
                  <c:v>Battery</c:v>
                </c:pt>
                <c:pt idx="2">
                  <c:v>Criminal Damage</c:v>
                </c:pt>
                <c:pt idx="3">
                  <c:v>Motor Vehicle Theft</c:v>
                </c:pt>
                <c:pt idx="4">
                  <c:v>Assault</c:v>
                </c:pt>
                <c:pt idx="5">
                  <c:v>Deceptive Practice</c:v>
                </c:pt>
                <c:pt idx="6">
                  <c:v>Robbery</c:v>
                </c:pt>
                <c:pt idx="7">
                  <c:v>Narcotics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48000</c:v>
                </c:pt>
                <c:pt idx="1">
                  <c:v>28000</c:v>
                </c:pt>
                <c:pt idx="2">
                  <c:v>19000</c:v>
                </c:pt>
                <c:pt idx="3">
                  <c:v>16000</c:v>
                </c:pt>
                <c:pt idx="4">
                  <c:v>14000</c:v>
                </c:pt>
                <c:pt idx="5">
                  <c:v>11000</c:v>
                </c:pt>
                <c:pt idx="6">
                  <c:v>9000</c:v>
                </c:pt>
                <c:pt idx="7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3-4C44-AF6C-4ECAD09F3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Request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6E-1A43-962B-DEF55B3A521A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6E-1A43-962B-DEF55B3A521A}"/>
              </c:ext>
            </c:extLst>
          </c:dPt>
          <c:dPt>
            <c:idx val="2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6E-1A43-962B-DEF55B3A521A}"/>
              </c:ext>
            </c:extLst>
          </c:dPt>
          <c:dPt>
            <c:idx val="3"/>
            <c:bubble3D val="0"/>
            <c:spPr>
              <a:solidFill>
                <a:srgbClr val="F57F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6E-1A43-962B-DEF55B3A521A}"/>
              </c:ext>
            </c:extLst>
          </c:dPt>
          <c:cat>
            <c:strRef>
              <c:f>Sheet1!$A$2:$A$5</c:f>
              <c:strCache>
                <c:ptCount val="4"/>
                <c:pt idx="0">
                  <c:v>Abandoned Vehicles 53%</c:v>
                </c:pt>
                <c:pt idx="1">
                  <c:v>Street Lights 36%</c:v>
                </c:pt>
                <c:pt idx="2">
                  <c:v>Alley Lights 7%</c:v>
                </c:pt>
                <c:pt idx="3">
                  <c:v>Vacant Buildings 4%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36</c:v>
                </c:pt>
                <c:pt idx="2">
                  <c:v>7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6E-1A43-962B-DEF55B3A5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747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F57F1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50-6A47-A7FA-8BCEE7E5CB01}"/>
              </c:ext>
            </c:extLst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50-6A47-A7FA-8BCEE7E5CB01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50-6A47-A7FA-8BCEE7E5CB01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50-6A47-A7FA-8BCEE7E5CB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Vacant Buildings</c:v>
                </c:pt>
                <c:pt idx="1">
                  <c:v>Abandoned Vehicles</c:v>
                </c:pt>
                <c:pt idx="2">
                  <c:v>Alley Lights</c:v>
                </c:pt>
                <c:pt idx="3">
                  <c:v>Street Lights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41.1</c:v>
                </c:pt>
                <c:pt idx="1">
                  <c:v>20.2</c:v>
                </c:pt>
                <c:pt idx="2">
                  <c:v>11.7</c:v>
                </c:pt>
                <c:pt idx="3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50-6A47-A7FA-8BCEE7E5CB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Request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23-CB4C-B546-93BEA57977A0}"/>
              </c:ext>
            </c:extLst>
          </c:dPt>
          <c:dPt>
            <c:idx val="1"/>
            <c:bubble3D val="0"/>
            <c:spPr>
              <a:solidFill>
                <a:srgbClr val="4A90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23-CB4C-B546-93BEA57977A0}"/>
              </c:ext>
            </c:extLst>
          </c:dPt>
          <c:dPt>
            <c:idx val="2"/>
            <c:bubble3D val="0"/>
            <c:spPr>
              <a:solidFill>
                <a:srgbClr val="90C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23-CB4C-B546-93BEA57977A0}"/>
              </c:ext>
            </c:extLst>
          </c:dPt>
          <c:dPt>
            <c:idx val="3"/>
            <c:bubble3D val="0"/>
            <c:spPr>
              <a:solidFill>
                <a:srgbClr val="B8D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23-CB4C-B546-93BEA57977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23-CB4C-B546-93BEA57977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23-CB4C-B546-93BEA57977A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823-CB4C-B546-93BEA57977A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823-CB4C-B546-93BEA57977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Abandoned Vehicle</c:v>
                </c:pt>
                <c:pt idx="1">
                  <c:v>Street Light Out</c:v>
                </c:pt>
                <c:pt idx="2">
                  <c:v>Alley Light Out</c:v>
                </c:pt>
                <c:pt idx="3">
                  <c:v>Vacant/Abandoned Bldg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35.799999999999997</c:v>
                </c:pt>
                <c:pt idx="2">
                  <c:v>6.2</c:v>
                </c:pt>
                <c:pt idx="3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23-CB4C-B546-93BEA5797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37474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Chatham</c:v>
                </c:pt>
                <c:pt idx="1">
                  <c:v>Little Village</c:v>
                </c:pt>
                <c:pt idx="2">
                  <c:v>Archer Heights</c:v>
                </c:pt>
                <c:pt idx="3">
                  <c:v>Bridgeport</c:v>
                </c:pt>
                <c:pt idx="4">
                  <c:v>Auburn Gresham</c:v>
                </c:pt>
                <c:pt idx="5">
                  <c:v>Roseland</c:v>
                </c:pt>
                <c:pt idx="6">
                  <c:v>Chicago Lawn</c:v>
                </c:pt>
                <c:pt idx="7">
                  <c:v>South Chicago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2845</c:v>
                </c:pt>
                <c:pt idx="1">
                  <c:v>2854</c:v>
                </c:pt>
                <c:pt idx="2">
                  <c:v>2862</c:v>
                </c:pt>
                <c:pt idx="3">
                  <c:v>3021</c:v>
                </c:pt>
                <c:pt idx="4">
                  <c:v>3113</c:v>
                </c:pt>
                <c:pt idx="5">
                  <c:v>3449</c:v>
                </c:pt>
                <c:pt idx="6">
                  <c:v>3790</c:v>
                </c:pt>
                <c:pt idx="7">
                  <c:v>4470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69-504E-BA54-F369F2680E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FD-C842-A69A-DFAB6CB137EF}"/>
              </c:ext>
            </c:extLst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FD-C842-A69A-DFAB6CB137EF}"/>
              </c:ext>
            </c:extLst>
          </c:dPt>
          <c:dPt>
            <c:idx val="2"/>
            <c:invertIfNegative val="0"/>
            <c:bubble3D val="0"/>
            <c:spPr>
              <a:solidFill>
                <a:srgbClr val="90C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FD-C842-A69A-DFAB6CB137EF}"/>
              </c:ext>
            </c:extLst>
          </c:dPt>
          <c:dPt>
            <c:idx val="3"/>
            <c:invertIfNegative val="0"/>
            <c:bubble3D val="0"/>
            <c:spPr>
              <a:solidFill>
                <a:srgbClr val="1E4D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FD-C842-A69A-DFAB6CB137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Vacant/Abandoned
Bldg</c:v>
                </c:pt>
                <c:pt idx="1">
                  <c:v>Abandoned
Vehicle</c:v>
                </c:pt>
                <c:pt idx="2">
                  <c:v>Alley
Light Out</c:v>
                </c:pt>
                <c:pt idx="3">
                  <c:v>Street
Light Out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41.1</c:v>
                </c:pt>
                <c:pt idx="1">
                  <c:v>20.2</c:v>
                </c:pt>
                <c:pt idx="2">
                  <c:v>11.7</c:v>
                </c:pt>
                <c:pt idx="3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FD-C842-A69A-DFAB6CB13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03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58C11-DD39-ACF9-80C2-466531EA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D0FC5-0613-8ABB-6A57-C99092F34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0EBF6-46C0-0CD5-6574-6AE540CCE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9767A-FBFF-32DE-F9C2-85BEFDB0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18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1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880E4F">
              <a:alpha val="70000"/>
            </a:srgbClr>
          </a:solidFill>
          <a:ln w="12700">
            <a:solidFill>
              <a:srgbClr val="880E4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0" y="0"/>
            <a:ext cx="109728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46320" y="914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HerWay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8463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System for Chicago Neighborhood Awareness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46320" y="3063240"/>
            <a:ext cx="1097280" cy="457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Institute of Technology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Waghray · Ananya Bhooplam Praveen · Sharanya Mishra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Chicago, through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eyes.</a:t>
            </a:r>
            <a:endParaRPr lang="en-US" sz="3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389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her-way-soremo.vercel.app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SoReMo Research Fellowship  ·  Illinois Institute of Technology  ·  Spring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0" y="1170432"/>
            <a:ext cx="2194560" cy="36576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468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246888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1112" y="1481328"/>
            <a:ext cx="2079248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Waghray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636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in Data Science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298448"/>
            <a:ext cx="2468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9000" y="1298448"/>
            <a:ext cx="246888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11880" y="1481328"/>
            <a:ext cx="2103120" cy="2560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Sharanya Mishra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4636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in Data Science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1298448"/>
            <a:ext cx="2468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1298448"/>
            <a:ext cx="246888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46520" y="1481328"/>
            <a:ext cx="2103120" cy="2560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 Ananya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Bhooplam Praveen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4636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in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Label"/>
          <p:cNvSpPr/>
          <p:nvPr/>
        </p:nvSpPr>
        <p:spPr>
          <a:xfrm>
            <a:off x="457200" y="228600"/>
            <a:ext cx="4114800" cy="480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185B"/>
                </a:solidFill>
                <a:latin typeface="Georgia" pitchFamily="34" charset="0"/>
              </a:rPr>
              <a:t>Where HerWay began</a:t>
            </a:r>
          </a:p>
        </p:txBody>
      </p:sp>
      <p:sp>
        <p:nvSpPr>
          <p:cNvPr id="5" name="Dot1"/>
          <p:cNvSpPr/>
          <p:nvPr/>
        </p:nvSpPr>
        <p:spPr>
          <a:xfrm>
            <a:off x="457200" y="1174121"/>
            <a:ext cx="182880" cy="18288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1"/>
          <p:cNvSpPr/>
          <p:nvPr/>
        </p:nvSpPr>
        <p:spPr>
          <a:xfrm>
            <a:off x="731520" y="10248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</a:rPr>
              <a:t>Three international students. New to Chicago.</a:t>
            </a:r>
          </a:p>
        </p:txBody>
      </p:sp>
      <p:sp>
        <p:nvSpPr>
          <p:cNvPr id="7" name="Dot2"/>
          <p:cNvSpPr/>
          <p:nvPr/>
        </p:nvSpPr>
        <p:spPr>
          <a:xfrm>
            <a:off x="457200" y="1828800"/>
            <a:ext cx="182880" cy="18288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2"/>
          <p:cNvSpPr/>
          <p:nvPr/>
        </p:nvSpPr>
        <p:spPr>
          <a:xfrm>
            <a:off x="731520" y="1752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</a:rPr>
              <a:t>We moved in groups — not by choice, but out of uncertainty.</a:t>
            </a:r>
          </a:p>
        </p:txBody>
      </p:sp>
      <p:sp>
        <p:nvSpPr>
          <p:cNvPr id="9" name="Dot3"/>
          <p:cNvSpPr/>
          <p:nvPr/>
        </p:nvSpPr>
        <p:spPr>
          <a:xfrm>
            <a:off x="457200" y="2629476"/>
            <a:ext cx="182880" cy="18288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3"/>
          <p:cNvSpPr/>
          <p:nvPr/>
        </p:nvSpPr>
        <p:spPr>
          <a:xfrm>
            <a:off x="731520" y="24838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</a:rPr>
              <a:t>Crime maps showed numbers. Maps showed routes.</a:t>
            </a:r>
          </a:p>
        </p:txBody>
      </p:sp>
      <p:sp>
        <p:nvSpPr>
          <p:cNvPr id="11" name="Dot4"/>
          <p:cNvSpPr/>
          <p:nvPr/>
        </p:nvSpPr>
        <p:spPr>
          <a:xfrm>
            <a:off x="449516" y="3360996"/>
            <a:ext cx="182880" cy="18288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4"/>
          <p:cNvSpPr/>
          <p:nvPr/>
        </p:nvSpPr>
        <p:spPr>
          <a:xfrm>
            <a:off x="731520" y="32154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</a:rPr>
              <a:t>Nothing told us how it actually </a:t>
            </a:r>
            <a:r>
              <a:rPr lang="en-US" sz="1400" b="1" dirty="0">
                <a:solidFill>
                  <a:srgbClr val="C2185B"/>
                </a:solidFill>
                <a:latin typeface="Calibri" pitchFamily="34" charset="0"/>
              </a:rPr>
              <a:t>felt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</a:rPr>
              <a:t> to be there.</a:t>
            </a:r>
          </a:p>
        </p:txBody>
      </p:sp>
      <p:sp>
        <p:nvSpPr>
          <p:cNvPr id="13" name="TagBar"/>
          <p:cNvSpPr/>
          <p:nvPr/>
        </p:nvSpPr>
        <p:spPr>
          <a:xfrm>
            <a:off x="457200" y="4480560"/>
            <a:ext cx="4114800" cy="36576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agline"/>
          <p:cNvSpPr/>
          <p:nvPr/>
        </p:nvSpPr>
        <p:spPr>
          <a:xfrm>
            <a:off x="457200" y="4572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2185B"/>
                </a:solidFill>
                <a:latin typeface="Georgia" pitchFamily="34" charset="0"/>
              </a:rPr>
              <a:t>This gap is what HerWay was built to close.</a:t>
            </a: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30604C62-E024-F59B-1AD2-8175D6AFC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124" y="0"/>
            <a:ext cx="4389120" cy="5143500"/>
          </a:xfrm>
          <a:prstGeom prst="rect">
            <a:avLst/>
          </a:prstGeom>
        </p:spPr>
      </p:pic>
      <p:sp>
        <p:nvSpPr>
          <p:cNvPr id="3" name="Quote"/>
          <p:cNvSpPr/>
          <p:nvPr/>
        </p:nvSpPr>
        <p:spPr>
          <a:xfrm>
            <a:off x="5129093" y="2601045"/>
            <a:ext cx="3840480" cy="2400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Georgia" pitchFamily="34" charset="0"/>
              </a:rPr>
              <a:t>“Google Maps tells you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Georgia" pitchFamily="34" charset="0"/>
              </a:rPr>
              <a:t>how to get there.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Georgia" pitchFamily="34" charset="0"/>
              </a:rPr>
              <a:t>It doesn’t tell you</a:t>
            </a:r>
          </a:p>
          <a:p>
            <a:pPr marL="0" indent="0" algn="ctr">
              <a:buNone/>
            </a:pPr>
            <a:r>
              <a:rPr lang="en-US" b="1" i="1" dirty="0">
                <a:latin typeface="Georgia" pitchFamily="34" charset="0"/>
              </a:rPr>
              <a:t>how it feels.”</a:t>
            </a: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27889A8D-46D6-2BF0-9518-C529A166623D}"/>
              </a:ext>
            </a:extLst>
          </p:cNvPr>
          <p:cNvSpPr/>
          <p:nvPr/>
        </p:nvSpPr>
        <p:spPr>
          <a:xfrm>
            <a:off x="5028432" y="57246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BFB7559E-95AF-09DC-CDFD-52868E09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440" y="636468"/>
            <a:ext cx="457200" cy="457200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0A7AA18C-DF2E-1052-E51A-D309952DFD88}"/>
              </a:ext>
            </a:extLst>
          </p:cNvPr>
          <p:cNvSpPr/>
          <p:nvPr/>
        </p:nvSpPr>
        <p:spPr>
          <a:xfrm>
            <a:off x="6124175" y="125096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84108A40-C43E-0434-43DD-DF18E9323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499" y="1322652"/>
            <a:ext cx="457200" cy="457200"/>
          </a:xfrm>
          <a:prstGeom prst="rect">
            <a:avLst/>
          </a:prstGeom>
        </p:spPr>
      </p:pic>
      <p:sp>
        <p:nvSpPr>
          <p:cNvPr id="33" name="Shape 2">
            <a:extLst>
              <a:ext uri="{FF2B5EF4-FFF2-40B4-BE49-F238E27FC236}">
                <a16:creationId xmlns:a16="http://schemas.microsoft.com/office/drawing/2014/main" id="{D24C2F6C-E620-CEC4-DE8D-7FD952BFE93E}"/>
              </a:ext>
            </a:extLst>
          </p:cNvPr>
          <p:cNvSpPr/>
          <p:nvPr/>
        </p:nvSpPr>
        <p:spPr>
          <a:xfrm>
            <a:off x="7203782" y="785308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95A8F8C0-63FA-47A1-6B53-30B9D248C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790" y="849316"/>
            <a:ext cx="457200" cy="457200"/>
          </a:xfrm>
          <a:prstGeom prst="rect">
            <a:avLst/>
          </a:prstGeom>
        </p:spPr>
      </p:pic>
      <p:sp>
        <p:nvSpPr>
          <p:cNvPr id="35" name="Shape 3">
            <a:extLst>
              <a:ext uri="{FF2B5EF4-FFF2-40B4-BE49-F238E27FC236}">
                <a16:creationId xmlns:a16="http://schemas.microsoft.com/office/drawing/2014/main" id="{F535BDC2-5BE3-2DF7-D6C4-70511AE9391F}"/>
              </a:ext>
            </a:extLst>
          </p:cNvPr>
          <p:cNvSpPr/>
          <p:nvPr/>
        </p:nvSpPr>
        <p:spPr>
          <a:xfrm>
            <a:off x="6913325" y="227457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D4EF4C3A-904C-F054-7D0C-C43A2E4A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905" y="2343150"/>
            <a:ext cx="457200" cy="457200"/>
          </a:xfrm>
          <a:prstGeom prst="rect">
            <a:avLst/>
          </a:prstGeom>
        </p:spPr>
      </p:pic>
      <p:sp>
        <p:nvSpPr>
          <p:cNvPr id="37" name="Shape 4">
            <a:extLst>
              <a:ext uri="{FF2B5EF4-FFF2-40B4-BE49-F238E27FC236}">
                <a16:creationId xmlns:a16="http://schemas.microsoft.com/office/drawing/2014/main" id="{480B0AB4-7B26-B38B-3575-5BC5C5F5570F}"/>
              </a:ext>
            </a:extLst>
          </p:cNvPr>
          <p:cNvSpPr/>
          <p:nvPr/>
        </p:nvSpPr>
        <p:spPr>
          <a:xfrm>
            <a:off x="7999080" y="1745812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>
            <a:extLst>
              <a:ext uri="{FF2B5EF4-FFF2-40B4-BE49-F238E27FC236}">
                <a16:creationId xmlns:a16="http://schemas.microsoft.com/office/drawing/2014/main" id="{D1031C60-60C3-DDAA-8C22-21CB236B1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088" y="1809820"/>
            <a:ext cx="457200" cy="457200"/>
          </a:xfrm>
          <a:prstGeom prst="rect">
            <a:avLst/>
          </a:prstGeom>
        </p:spPr>
      </p:pic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CD041597-8F02-71F4-4066-E4239D5AA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837" y="2299293"/>
            <a:ext cx="457200" cy="457200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69F72707-A077-948E-A619-5AD6A2A7E5FF}"/>
              </a:ext>
            </a:extLst>
          </p:cNvPr>
          <p:cNvSpPr/>
          <p:nvPr/>
        </p:nvSpPr>
        <p:spPr>
          <a:xfrm>
            <a:off x="5154257" y="2205990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E32CB9AB-2281-3890-E3CA-A26E754BB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389" y="328108"/>
            <a:ext cx="457200" cy="457200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A405145B-4FEE-E0BF-9A18-38D17F93003C}"/>
              </a:ext>
            </a:extLst>
          </p:cNvPr>
          <p:cNvSpPr/>
          <p:nvPr/>
        </p:nvSpPr>
        <p:spPr>
          <a:xfrm>
            <a:off x="8205280" y="259528"/>
            <a:ext cx="594360" cy="5943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D1CA-D71E-BE0E-44A5-47E1338A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30ECD9A-2BA0-6215-48BE-0AE802E7E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05156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E29A1BF-9D0E-4EE3-870A-B19B9200EE82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8F30292-427E-5BFF-C80E-9BF545A5ACF9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Information Equity Gap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E7CE921-FF09-F0D4-CA36-1EC9EBEDF77B}"/>
              </a:ext>
            </a:extLst>
          </p:cNvPr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intelligence is unevenly distributed. These groups feel it most.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B848DF1-AF1E-ACEE-0CF0-64A9FF8C6BCD}"/>
              </a:ext>
            </a:extLst>
          </p:cNvPr>
          <p:cNvSpPr/>
          <p:nvPr/>
        </p:nvSpPr>
        <p:spPr>
          <a:xfrm>
            <a:off x="36576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15B0869-E4B6-C2B0-87D0-DFA506DB33DE}"/>
              </a:ext>
            </a:extLst>
          </p:cNvPr>
          <p:cNvSpPr/>
          <p:nvPr/>
        </p:nvSpPr>
        <p:spPr>
          <a:xfrm>
            <a:off x="365760" y="1234440"/>
            <a:ext cx="2651760" cy="7315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CB0D082-3985-0FC6-0832-71785B44359A}"/>
              </a:ext>
            </a:extLst>
          </p:cNvPr>
          <p:cNvSpPr/>
          <p:nvPr/>
        </p:nvSpPr>
        <p:spPr>
          <a:xfrm>
            <a:off x="1371600" y="1307268"/>
            <a:ext cx="640080" cy="64008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3551F6E6-7C64-C6E8-D78D-BBC8D751D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344168"/>
            <a:ext cx="548640" cy="54864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4B78A8EE-20B1-BAF4-E276-98280939CE0C}"/>
              </a:ext>
            </a:extLst>
          </p:cNvPr>
          <p:cNvSpPr/>
          <p:nvPr/>
        </p:nvSpPr>
        <p:spPr>
          <a:xfrm>
            <a:off x="45720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29C3955-4F22-EEF0-CC38-4B1E6E1AAA24}"/>
              </a:ext>
            </a:extLst>
          </p:cNvPr>
          <p:cNvSpPr/>
          <p:nvPr/>
        </p:nvSpPr>
        <p:spPr>
          <a:xfrm>
            <a:off x="50292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Harassment, discomfort &amp; fear of poorly lit streets — rarely reported, invisible in official records</a:t>
            </a:r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50A4CCE-620C-70CA-B450-17F49211325D}"/>
              </a:ext>
            </a:extLst>
          </p:cNvPr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5AD2E43-7DED-7E6C-25AE-035BF2356074}"/>
              </a:ext>
            </a:extLst>
          </p:cNvPr>
          <p:cNvSpPr/>
          <p:nvPr/>
        </p:nvSpPr>
        <p:spPr>
          <a:xfrm>
            <a:off x="3200400" y="1234440"/>
            <a:ext cx="265176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C5FD63F-7D82-370A-90C3-EC1B98DB5444}"/>
              </a:ext>
            </a:extLst>
          </p:cNvPr>
          <p:cNvSpPr/>
          <p:nvPr/>
        </p:nvSpPr>
        <p:spPr>
          <a:xfrm>
            <a:off x="4191674" y="1280160"/>
            <a:ext cx="654646" cy="64008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02C476CB-10C3-8311-9248-9FCD43EAD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677" y="1325880"/>
            <a:ext cx="548640" cy="54864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D29C2FED-2DD5-D47E-6AC7-C490494080F0}"/>
              </a:ext>
            </a:extLst>
          </p:cNvPr>
          <p:cNvSpPr/>
          <p:nvPr/>
        </p:nvSpPr>
        <p:spPr>
          <a:xfrm>
            <a:off x="329184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Students</a:t>
            </a:r>
            <a:endParaRPr lang="en-US" sz="16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966D606-B0AC-31E2-2D66-219A0AC94282}"/>
              </a:ext>
            </a:extLst>
          </p:cNvPr>
          <p:cNvSpPr/>
          <p:nvPr/>
        </p:nvSpPr>
        <p:spPr>
          <a:xfrm>
            <a:off x="333756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the city. No local network. No accumulated knowledge of which areas feel safe</a:t>
            </a:r>
            <a:endParaRPr lang="en-US" sz="12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901B93A-4794-ADD4-9412-DAE88D175C8B}"/>
              </a:ext>
            </a:extLst>
          </p:cNvPr>
          <p:cNvSpPr/>
          <p:nvPr/>
        </p:nvSpPr>
        <p:spPr>
          <a:xfrm>
            <a:off x="603504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7630489-E9EE-249E-62F7-8C2305A1E142}"/>
              </a:ext>
            </a:extLst>
          </p:cNvPr>
          <p:cNvSpPr/>
          <p:nvPr/>
        </p:nvSpPr>
        <p:spPr>
          <a:xfrm>
            <a:off x="6035040" y="1234440"/>
            <a:ext cx="265176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12D46BC-82E5-10E9-69D1-B3A37E36D304}"/>
              </a:ext>
            </a:extLst>
          </p:cNvPr>
          <p:cNvSpPr/>
          <p:nvPr/>
        </p:nvSpPr>
        <p:spPr>
          <a:xfrm>
            <a:off x="7040880" y="1298064"/>
            <a:ext cx="640080" cy="640080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3E983F29-301F-86D9-4CAA-D3CE9FEE0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352988"/>
            <a:ext cx="548640" cy="548640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694A7F54-ACE9-56EE-D420-1974CBF0DB69}"/>
              </a:ext>
            </a:extLst>
          </p:cNvPr>
          <p:cNvSpPr/>
          <p:nvPr/>
        </p:nvSpPr>
        <p:spPr>
          <a:xfrm>
            <a:off x="61264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Newcomers</a:t>
            </a:r>
            <a:endParaRPr lang="en-US" sz="16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33A956B-CA05-E1F0-1DD6-2DBDDB2CEA7C}"/>
              </a:ext>
            </a:extLst>
          </p:cNvPr>
          <p:cNvSpPr/>
          <p:nvPr/>
        </p:nvSpPr>
        <p:spPr>
          <a:xfrm>
            <a:off x="6187568" y="251383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the lived experience that longtime residents take for granted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6CD89FC-34DA-46D4-21F0-961B3D09414A}"/>
              </a:ext>
            </a:extLst>
          </p:cNvPr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is unevenly distributed.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471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HerWay?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data sources. A fuller picture of neighborhood safety.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3474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88720" y="2011680"/>
            <a:ext cx="2011680" cy="20116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554480" y="2377440"/>
            <a:ext cx="1280160" cy="12801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26517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178105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06240" y="1280160"/>
            <a:ext cx="4572000" cy="987552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206240" y="1280160"/>
            <a:ext cx="91440" cy="987552"/>
          </a:xfrm>
          <a:prstGeom prst="rect">
            <a:avLst/>
          </a:prstGeom>
          <a:solidFill>
            <a:srgbClr val="FF5700"/>
          </a:solidFill>
          <a:ln w="12700">
            <a:solidFill>
              <a:srgbClr val="FF5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434840" y="1481328"/>
            <a:ext cx="566928" cy="566928"/>
          </a:xfrm>
          <a:prstGeom prst="ellipse">
            <a:avLst/>
          </a:prstGeom>
          <a:solidFill>
            <a:srgbClr val="FF5700">
              <a:alpha val="15000"/>
            </a:srgbClr>
          </a:solidFill>
          <a:ln w="12700">
            <a:solidFill>
              <a:srgbClr val="FF57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508760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166360" y="1783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1,218 posts — lived community experience &amp; fear signals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06240" y="2450592"/>
            <a:ext cx="4572000" cy="987552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206240" y="2450592"/>
            <a:ext cx="91440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434840" y="2651760"/>
            <a:ext cx="566928" cy="566928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267919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Data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16636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reported incidents across all 77 neighborhoods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206240" y="3621024"/>
            <a:ext cx="4572000" cy="987552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206240" y="3621024"/>
            <a:ext cx="91440" cy="9875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434840" y="3822192"/>
            <a:ext cx="566928" cy="566928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3849624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Service Requests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166360" y="4123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livability stress from city records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1965960" cy="2926080"/>
          </a:xfrm>
          <a:prstGeom prst="rect">
            <a:avLst/>
          </a:prstGeom>
          <a:solidFill>
            <a:srgbClr val="FCE4EC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61288" y="11430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61288" y="1152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4128" y="173736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783080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0906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Crime &amp; 311 Data from Chicago's open data sources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2423160"/>
            <a:ext cx="182880" cy="54864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96312" y="234086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32888" y="1005840"/>
            <a:ext cx="196596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82696" y="11430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82696" y="1152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45536" y="173736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783080"/>
            <a:ext cx="658368" cy="6583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78608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24328" y="30906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Sentiment Analysis + Weighted Neighborhood Scoring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98848" y="2423160"/>
            <a:ext cx="182880" cy="54864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17720" y="234086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54296" y="1005840"/>
            <a:ext cx="1965960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404104" y="11430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404104" y="1152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266944" y="173736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783080"/>
            <a:ext cx="658368" cy="6583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00016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745736" y="30906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of all 77 Chicago neighborhood profiles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620256" y="2423160"/>
            <a:ext cx="182880" cy="54864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739128" y="234086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775704" y="1005840"/>
            <a:ext cx="1965960" cy="2926080"/>
          </a:xfrm>
          <a:prstGeom prst="rect">
            <a:avLst/>
          </a:prstGeom>
          <a:solidFill>
            <a:srgbClr val="FFF8E1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525512" y="11430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525512" y="11521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7388352" y="173736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783080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21424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867144" y="30906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answers natural language questions about any area</a:t>
            </a:r>
            <a:endParaRPr lang="en-US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4160520"/>
            <a:ext cx="9144000" cy="98298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880E4F">
              <a:alpha val="50000"/>
            </a:srgbClr>
          </a:solidFill>
          <a:ln w="12700">
            <a:solidFill>
              <a:srgbClr val="880E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 her-way-soremo.vercel.app  — Interactive Map + Chatbot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nd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F3A4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itle"/>
          <p:cNvSpPr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Reddit — Community Voice</a:t>
            </a:r>
          </a:p>
        </p:txBody>
      </p:sp>
      <p:sp>
        <p:nvSpPr>
          <p:cNvPr id="4" name="Stats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E4EC"/>
                </a:solidFill>
                <a:latin typeface="Calibri" pitchFamily="34" charset="0"/>
              </a:rPr>
              <a:t>1,218 posts · 2010–2026 · 5 subreddits · 499 geotagged · 60 neighborhoods</a:t>
            </a:r>
          </a:p>
        </p:txBody>
      </p:sp>
      <p:sp>
        <p:nvSpPr>
          <p:cNvPr id="5" name="WhyLabel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</a:rPr>
              <a:t>Why Reddit?</a:t>
            </a:r>
          </a:p>
        </p:txBody>
      </p:sp>
      <p:sp>
        <p:nvSpPr>
          <p:cNvPr id="6" name="WhyText"/>
          <p:cNvSpPr/>
          <p:nvPr/>
        </p:nvSpPr>
        <p:spPr>
          <a:xfrm>
            <a:off x="457200" y="150876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</a:rPr>
              <a:t>Official data captures what gets reported. Reddit captures what people actually experience — the harassment, the dark streets, the gut feeling of being watched.</a:t>
            </a:r>
          </a:p>
        </p:txBody>
      </p:sp>
      <p:sp>
        <p:nvSpPr>
          <p:cNvPr id="7" name="Div"/>
          <p:cNvSpPr/>
          <p:nvPr/>
        </p:nvSpPr>
        <p:spPr>
          <a:xfrm>
            <a:off x="457200" y="2560320"/>
            <a:ext cx="3840480" cy="36576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WhereLbl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</a:rPr>
              <a:t>Where we looked</a:t>
            </a:r>
          </a:p>
        </p:txBody>
      </p:sp>
      <p:sp>
        <p:nvSpPr>
          <p:cNvPr id="9" name="WhereText"/>
          <p:cNvSpPr/>
          <p:nvPr/>
        </p:nvSpPr>
        <p:spPr>
          <a:xfrm>
            <a:off x="457200" y="306324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</a:rPr>
              <a:t>r/chicago · r/AskChicago · r/TwoXChromosomes · r/AskWomen · r/femalefashionadvice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</a:rPr>
              <a:t>Keywords: “unsafe”, “harassment”, “scared”, “alone at night” + 14 more</a:t>
            </a:r>
          </a:p>
        </p:txBody>
      </p:sp>
      <p:sp>
        <p:nvSpPr>
          <p:cNvPr id="10" name="S1Bg"/>
          <p:cNvSpPr/>
          <p:nvPr/>
        </p:nvSpPr>
        <p:spPr>
          <a:xfrm>
            <a:off x="4571040" y="1097280"/>
            <a:ext cx="4115520" cy="11887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1T"/>
          <p:cNvSpPr/>
          <p:nvPr/>
        </p:nvSpPr>
        <p:spPr>
          <a:xfrm>
            <a:off x="4662480" y="1143000"/>
            <a:ext cx="393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</a:rPr>
              <a:t>1,218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</a:rPr>
              <a:t>posts collected, no API needed</a:t>
            </a:r>
          </a:p>
        </p:txBody>
      </p:sp>
      <p:sp>
        <p:nvSpPr>
          <p:cNvPr id="12" name="S2Bg"/>
          <p:cNvSpPr/>
          <p:nvPr/>
        </p:nvSpPr>
        <p:spPr>
          <a:xfrm>
            <a:off x="4571040" y="2377440"/>
            <a:ext cx="4115520" cy="1188720"/>
          </a:xfrm>
          <a:prstGeom prst="rect">
            <a:avLst/>
          </a:prstGeom>
          <a:solidFill>
            <a:srgbClr val="A667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2T"/>
          <p:cNvSpPr/>
          <p:nvPr/>
        </p:nvSpPr>
        <p:spPr>
          <a:xfrm>
            <a:off x="4662480" y="2423160"/>
            <a:ext cx="393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</a:rPr>
              <a:t>499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posts matched to a Chicago neighborhood</a:t>
            </a:r>
          </a:p>
        </p:txBody>
      </p:sp>
      <p:sp>
        <p:nvSpPr>
          <p:cNvPr id="14" name="S3Bg"/>
          <p:cNvSpPr/>
          <p:nvPr/>
        </p:nvSpPr>
        <p:spPr>
          <a:xfrm>
            <a:off x="4571040" y="3657600"/>
            <a:ext cx="4115520" cy="11887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3T"/>
          <p:cNvSpPr/>
          <p:nvPr/>
        </p:nvSpPr>
        <p:spPr>
          <a:xfrm>
            <a:off x="4662480" y="3703320"/>
            <a:ext cx="393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2185B"/>
                </a:solidFill>
                <a:latin typeface="Georgia" pitchFamily="34" charset="0"/>
              </a:rPr>
              <a:t>60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</a:rPr>
              <a:t>neighborhoods with usable safety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nd"/>
          <p:cNvSpPr/>
          <p:nvPr/>
        </p:nvSpPr>
        <p:spPr>
          <a:xfrm>
            <a:off x="0" y="15368"/>
            <a:ext cx="9144000" cy="960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474F"/>
                </a:solidFill>
                <a:latin typeface="Georgia" pitchFamily="34" charset="0"/>
              </a:rPr>
              <a:t>How we turned 1,218 posts into safety insights</a:t>
            </a:r>
          </a:p>
        </p:txBody>
      </p:sp>
      <p:sp>
        <p:nvSpPr>
          <p:cNvPr id="4" name="B1"/>
          <p:cNvSpPr/>
          <p:nvPr/>
        </p:nvSpPr>
        <p:spPr>
          <a:xfrm>
            <a:off x="457200" y="1097280"/>
            <a:ext cx="1617489" cy="36576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N1"/>
          <p:cNvSpPr/>
          <p:nvPr/>
        </p:nvSpPr>
        <p:spPr>
          <a:xfrm>
            <a:off x="457200" y="1097280"/>
            <a:ext cx="1617489" cy="5486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1</a:t>
            </a:r>
          </a:p>
        </p:txBody>
      </p:sp>
      <p:sp>
        <p:nvSpPr>
          <p:cNvPr id="6" name="T1"/>
          <p:cNvSpPr/>
          <p:nvPr/>
        </p:nvSpPr>
        <p:spPr>
          <a:xfrm>
            <a:off x="548640" y="1737360"/>
            <a:ext cx="1410789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185B"/>
                </a:solidFill>
                <a:latin typeface="Georgia" pitchFamily="34" charset="0"/>
              </a:rPr>
              <a:t>Find the neighborhood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</a:rPr>
              <a:t>We scan each post for Chicago neighborhood names using an 80+ word dictionary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2185B"/>
                </a:solidFill>
                <a:latin typeface="Calibri" pitchFamily="34" charset="0"/>
              </a:rPr>
              <a:t>499 of 1,218 posts matched</a:t>
            </a:r>
          </a:p>
        </p:txBody>
      </p:sp>
      <p:sp>
        <p:nvSpPr>
          <p:cNvPr id="7" name="Arr1"/>
          <p:cNvSpPr/>
          <p:nvPr/>
        </p:nvSpPr>
        <p:spPr>
          <a:xfrm>
            <a:off x="2269863" y="2737821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185B"/>
                </a:solidFill>
                <a:latin typeface="Calibri" pitchFamily="34" charset="0"/>
              </a:rPr>
              <a:t>-&gt;</a:t>
            </a:r>
          </a:p>
        </p:txBody>
      </p:sp>
      <p:sp>
        <p:nvSpPr>
          <p:cNvPr id="8" name="B2"/>
          <p:cNvSpPr/>
          <p:nvPr/>
        </p:nvSpPr>
        <p:spPr>
          <a:xfrm>
            <a:off x="2834640" y="1097280"/>
            <a:ext cx="1575995" cy="3657600"/>
          </a:xfrm>
          <a:prstGeom prst="rect">
            <a:avLst/>
          </a:prstGeom>
          <a:solidFill>
            <a:srgbClr val="A667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N2"/>
          <p:cNvSpPr/>
          <p:nvPr/>
        </p:nvSpPr>
        <p:spPr>
          <a:xfrm>
            <a:off x="2834640" y="1097280"/>
            <a:ext cx="1568311" cy="5486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2</a:t>
            </a:r>
          </a:p>
        </p:txBody>
      </p:sp>
      <p:sp>
        <p:nvSpPr>
          <p:cNvPr id="10" name="T2"/>
          <p:cNvSpPr/>
          <p:nvPr/>
        </p:nvSpPr>
        <p:spPr>
          <a:xfrm>
            <a:off x="2926080" y="1737360"/>
            <a:ext cx="141148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</a:rPr>
              <a:t>Score safety relevance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A 40-word safety lexicon checks each post. “dark”, “alone”, “followed” — words general tools miss</a:t>
            </a:r>
          </a:p>
        </p:txBody>
      </p:sp>
      <p:sp>
        <p:nvSpPr>
          <p:cNvPr id="12" name="B3"/>
          <p:cNvSpPr/>
          <p:nvPr/>
        </p:nvSpPr>
        <p:spPr>
          <a:xfrm>
            <a:off x="5212080" y="1097280"/>
            <a:ext cx="1595974" cy="36576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N3"/>
          <p:cNvSpPr/>
          <p:nvPr/>
        </p:nvSpPr>
        <p:spPr>
          <a:xfrm>
            <a:off x="5212080" y="1097280"/>
            <a:ext cx="1595974" cy="5486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3</a:t>
            </a:r>
          </a:p>
        </p:txBody>
      </p:sp>
      <p:sp>
        <p:nvSpPr>
          <p:cNvPr id="14" name="T3"/>
          <p:cNvSpPr/>
          <p:nvPr/>
        </p:nvSpPr>
        <p:spPr>
          <a:xfrm>
            <a:off x="5303520" y="1737360"/>
            <a:ext cx="1412325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</a:rPr>
              <a:t>Read the emotion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</a:rPr>
              <a:t>An AI model (pre-trained on 58M tweets) labels each post: Fearful, Neutral, or Reassuring</a:t>
            </a:r>
          </a:p>
        </p:txBody>
      </p:sp>
      <p:sp>
        <p:nvSpPr>
          <p:cNvPr id="16" name="B4"/>
          <p:cNvSpPr/>
          <p:nvPr/>
        </p:nvSpPr>
        <p:spPr>
          <a:xfrm>
            <a:off x="7415091" y="1097280"/>
            <a:ext cx="1467651" cy="3657600"/>
          </a:xfrm>
          <a:prstGeom prst="rect">
            <a:avLst/>
          </a:prstGeom>
          <a:solidFill>
            <a:srgbClr val="A667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4"/>
          <p:cNvSpPr/>
          <p:nvPr/>
        </p:nvSpPr>
        <p:spPr>
          <a:xfrm>
            <a:off x="7415091" y="1097280"/>
            <a:ext cx="1467651" cy="54864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4</a:t>
            </a:r>
          </a:p>
        </p:txBody>
      </p:sp>
      <p:sp>
        <p:nvSpPr>
          <p:cNvPr id="18" name="T4"/>
          <p:cNvSpPr/>
          <p:nvPr/>
        </p:nvSpPr>
        <p:spPr>
          <a:xfrm>
            <a:off x="7604119" y="1745044"/>
            <a:ext cx="1094206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Build the fear score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% of fearful posts per neighborhood = the fear ratio</a:t>
            </a:r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CE4EC"/>
                </a:solidFill>
                <a:latin typeface="Calibri" pitchFamily="34" charset="0"/>
              </a:rPr>
              <a:t>60 neighborhoods scored</a:t>
            </a:r>
          </a:p>
        </p:txBody>
      </p:sp>
      <p:sp>
        <p:nvSpPr>
          <p:cNvPr id="19" name="Note"/>
          <p:cNvSpPr/>
          <p:nvPr/>
        </p:nvSpPr>
        <p:spPr>
          <a:xfrm>
            <a:off x="457200" y="4846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2185B"/>
                </a:solidFill>
                <a:latin typeface="Georgia" pitchFamily="34" charset="0"/>
              </a:rPr>
              <a:t>This pipeline captures what official crime records cannot — the lived experience of fear.</a:t>
            </a:r>
          </a:p>
        </p:txBody>
      </p:sp>
      <p:sp>
        <p:nvSpPr>
          <p:cNvPr id="20" name="Arr1">
            <a:extLst>
              <a:ext uri="{FF2B5EF4-FFF2-40B4-BE49-F238E27FC236}">
                <a16:creationId xmlns:a16="http://schemas.microsoft.com/office/drawing/2014/main" id="{790B80E0-1D9B-0101-6658-700813370F4B}"/>
              </a:ext>
            </a:extLst>
          </p:cNvPr>
          <p:cNvSpPr/>
          <p:nvPr/>
        </p:nvSpPr>
        <p:spPr>
          <a:xfrm>
            <a:off x="4627580" y="27134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185B"/>
                </a:solidFill>
                <a:latin typeface="Calibri" pitchFamily="34" charset="0"/>
              </a:rPr>
              <a:t>-&gt;</a:t>
            </a:r>
          </a:p>
        </p:txBody>
      </p:sp>
      <p:sp>
        <p:nvSpPr>
          <p:cNvPr id="21" name="Arr1">
            <a:extLst>
              <a:ext uri="{FF2B5EF4-FFF2-40B4-BE49-F238E27FC236}">
                <a16:creationId xmlns:a16="http://schemas.microsoft.com/office/drawing/2014/main" id="{DBD88D9F-09A0-3506-0595-DDED7CFA474C}"/>
              </a:ext>
            </a:extLst>
          </p:cNvPr>
          <p:cNvSpPr/>
          <p:nvPr/>
        </p:nvSpPr>
        <p:spPr>
          <a:xfrm>
            <a:off x="6923826" y="2727575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185B"/>
                </a:solidFill>
                <a:latin typeface="Calibri" pitchFamily="34" charset="0"/>
              </a:rPr>
              <a:t>-&gt;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Data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5840" y="566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 incidents  ·  2025  ·  All 77 Chicago community areas  ·  Chicago Data Portal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051560"/>
          <a:ext cx="43891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Crime Types — Citywide 2025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92040" y="1078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892040" y="1481328"/>
            <a:ext cx="39776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92040" y="1481328"/>
            <a:ext cx="64008" cy="71323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74920" y="15179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11,056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1527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— highest incident count. Peaks 12am–1am Saturdays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92040" y="2304288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92040" y="2304288"/>
            <a:ext cx="64008" cy="71323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74920" y="23408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80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50.5%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492240" y="2350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Riverdale — highest violent %. Only ~1,000 incidents: severity ≠ volume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92040" y="3127248"/>
            <a:ext cx="397764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92040" y="3127248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74920" y="31638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48.7%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92240" y="3172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between 6pm–6am. Night patterns vary significantly by neighborhood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92040" y="3950208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892040" y="3950208"/>
            <a:ext cx="64008" cy="71323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74920" y="39867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57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10–25%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492240" y="3995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 rates citywide — structural reality, not an indicator of crime severity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counts mislead — volume and violent concentration tell categorically different stories.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97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311 Service Requests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5840" y="566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Non-emergency resident complaints  ·  2025  ·  Chicago Data Portal  ·  Livability &amp; infrastructure lens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051560"/>
          <a:ext cx="36576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Type Breakdown</a:t>
            </a:r>
            <a:endParaRPr lang="en-US" sz="10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114800" y="1051560"/>
          <a:ext cx="466344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114800" y="3246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 (days)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274320" y="3584448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274320" y="3584448"/>
            <a:ext cx="2834640" cy="64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84048" y="3694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5.6×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84048" y="4059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to resolve vacant buildings (41d) vs street lights (7d)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18688" y="3584448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218688" y="3584448"/>
            <a:ext cx="28346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328416" y="3694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Chicago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328416" y="4059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request volume — South &amp; West sides carry disproportionate burden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63056" y="3584448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63056" y="3584448"/>
            <a:ext cx="283464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72784" y="3694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 + 36%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72784" y="4059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vehicles &amp; broken lights — same conditions cited in fearful Reddit posts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time disparity is a measurable infrastructure equity gap — concentrated in the same areas with elevated crime and fear.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65151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21140" cy="65151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720090" y="54864"/>
            <a:ext cx="6172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311 Service Requests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20090" y="425196"/>
            <a:ext cx="78867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B2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Non-emergency resident complaints  ·  2025  ·  Chicago Data Portal  ·  Livability &amp; infrastructure lens</a:t>
            </a:r>
            <a:endParaRPr lang="en-US" sz="7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9154" y="1021842"/>
          <a:ext cx="24688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9154" y="283921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Type Breakdown</a:t>
            </a:r>
            <a:endParaRPr lang="en-US" sz="675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2660904" y="1021842"/>
          <a:ext cx="33604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2660904" y="2839212"/>
            <a:ext cx="33604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Neighbourhoods by Volume</a:t>
            </a:r>
            <a:endParaRPr lang="en-US" sz="675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6192774" y="1021842"/>
          <a:ext cx="26746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6192774" y="2839212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 (days)</a:t>
            </a:r>
            <a:endParaRPr lang="en-US" sz="675" dirty="0"/>
          </a:p>
        </p:txBody>
      </p:sp>
      <p:sp>
        <p:nvSpPr>
          <p:cNvPr id="12" name="Shape 7"/>
          <p:cNvSpPr/>
          <p:nvPr/>
        </p:nvSpPr>
        <p:spPr>
          <a:xfrm>
            <a:off x="102870" y="3558784"/>
            <a:ext cx="2880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135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3" name="Shape 8"/>
          <p:cNvSpPr/>
          <p:nvPr/>
        </p:nvSpPr>
        <p:spPr>
          <a:xfrm>
            <a:off x="102870" y="3558784"/>
            <a:ext cx="2880360" cy="44577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9"/>
          <p:cNvSpPr/>
          <p:nvPr/>
        </p:nvSpPr>
        <p:spPr>
          <a:xfrm>
            <a:off x="192024" y="3613648"/>
            <a:ext cx="27432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57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5.6×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92024" y="3894826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to resolve vacant buildings (41d) vs street lights (7d)</a:t>
            </a:r>
            <a:endParaRPr lang="en-US" sz="675" dirty="0"/>
          </a:p>
        </p:txBody>
      </p:sp>
      <p:sp>
        <p:nvSpPr>
          <p:cNvPr id="16" name="Shape 11"/>
          <p:cNvSpPr/>
          <p:nvPr/>
        </p:nvSpPr>
        <p:spPr>
          <a:xfrm>
            <a:off x="3134106" y="3558784"/>
            <a:ext cx="2880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135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7" name="Shape 12"/>
          <p:cNvSpPr/>
          <p:nvPr/>
        </p:nvSpPr>
        <p:spPr>
          <a:xfrm>
            <a:off x="3134106" y="3558784"/>
            <a:ext cx="2880360" cy="44577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3"/>
          <p:cNvSpPr/>
          <p:nvPr/>
        </p:nvSpPr>
        <p:spPr>
          <a:xfrm>
            <a:off x="3223260" y="3613648"/>
            <a:ext cx="27432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Chicago — 4,470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223260" y="3894826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311 volume — South &amp; West sides carry the burden disproportionately. Some don't call 311; they've stopped expecting a response.</a:t>
            </a:r>
            <a:endParaRPr lang="en-US" sz="675" dirty="0"/>
          </a:p>
        </p:txBody>
      </p:sp>
      <p:sp>
        <p:nvSpPr>
          <p:cNvPr id="20" name="Shape 15"/>
          <p:cNvSpPr/>
          <p:nvPr/>
        </p:nvSpPr>
        <p:spPr>
          <a:xfrm>
            <a:off x="6172200" y="3558784"/>
            <a:ext cx="2743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135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1" name="Shape 16"/>
          <p:cNvSpPr/>
          <p:nvPr/>
        </p:nvSpPr>
        <p:spPr>
          <a:xfrm>
            <a:off x="6172200" y="3558784"/>
            <a:ext cx="2743200" cy="44577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17"/>
          <p:cNvSpPr/>
          <p:nvPr/>
        </p:nvSpPr>
        <p:spPr>
          <a:xfrm>
            <a:off x="6261354" y="3613648"/>
            <a:ext cx="26060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 + 36%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261354" y="389482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vehicles &amp; broken lights — same conditions cited in fearful Reddit posts</a:t>
            </a:r>
            <a:endParaRPr lang="en-US" sz="675" dirty="0"/>
          </a:p>
        </p:txBody>
      </p:sp>
      <p:sp>
        <p:nvSpPr>
          <p:cNvPr id="24" name="Text 19"/>
          <p:cNvSpPr/>
          <p:nvPr/>
        </p:nvSpPr>
        <p:spPr>
          <a:xfrm>
            <a:off x="205740" y="4829876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i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 time disparity is a measurable infrastructure equity gap — concentrated in the same areas with elevated crime and fear.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60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/>
              </a:rPr>
              <a:t>Three sources. One honest score.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  <a:latin typeface="Georgia"/>
              </a:rPr>
              <a:t>Each source sees something the others miss. Together they tell a fuller story.</a:t>
            </a:r>
          </a:p>
        </p:txBody>
      </p:sp>
      <p:sp>
        <p:nvSpPr>
          <p:cNvPr id="10" name="Reddit"/>
          <p:cNvSpPr/>
          <p:nvPr/>
        </p:nvSpPr>
        <p:spPr>
          <a:xfrm>
            <a:off x="457200" y="1051560"/>
            <a:ext cx="2560320" cy="502920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 w="9525">
            <a:solidFill>
              <a:srgbClr val="C2185B"/>
            </a:solidFill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185B"/>
                </a:solidFill>
                <a:latin typeface="Georgia"/>
              </a:rPr>
              <a:t>Reddit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/>
              </a:rPr>
              <a:t>How it feels</a:t>
            </a:r>
          </a:p>
        </p:txBody>
      </p:sp>
      <p:sp>
        <p:nvSpPr>
          <p:cNvPr id="11" name="P1"/>
          <p:cNvSpPr/>
          <p:nvPr/>
        </p:nvSpPr>
        <p:spPr>
          <a:xfrm>
            <a:off x="3108960" y="1234440"/>
            <a:ext cx="3657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Calibri"/>
              </a:rPr>
              <a:t>+</a:t>
            </a:r>
          </a:p>
        </p:txBody>
      </p:sp>
      <p:sp>
        <p:nvSpPr>
          <p:cNvPr id="12" name="Crime"/>
          <p:cNvSpPr/>
          <p:nvPr/>
        </p:nvSpPr>
        <p:spPr>
          <a:xfrm>
            <a:off x="3566160" y="1051560"/>
            <a:ext cx="2560320" cy="502920"/>
          </a:xfrm>
          <a:prstGeom prst="roundRect">
            <a:avLst>
              <a:gd name="adj" fmla="val 20000"/>
            </a:avLst>
          </a:prstGeom>
          <a:solidFill>
            <a:srgbClr val="1A0A0F"/>
          </a:solidFill>
          <a:ln>
            <a:noFill/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/>
              </a:rPr>
              <a:t>Crime Data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/>
              </a:rPr>
              <a:t>What was reported</a:t>
            </a:r>
          </a:p>
        </p:txBody>
      </p:sp>
      <p:sp>
        <p:nvSpPr>
          <p:cNvPr id="13" name="P2"/>
          <p:cNvSpPr/>
          <p:nvPr/>
        </p:nvSpPr>
        <p:spPr>
          <a:xfrm>
            <a:off x="6218040" y="1234440"/>
            <a:ext cx="36576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Calibri"/>
              </a:rPr>
              <a:t>+</a:t>
            </a:r>
          </a:p>
        </p:txBody>
      </p:sp>
      <p:sp>
        <p:nvSpPr>
          <p:cNvPr id="14" name="S311"/>
          <p:cNvSpPr/>
          <p:nvPr/>
        </p:nvSpPr>
        <p:spPr>
          <a:xfrm>
            <a:off x="6675240" y="1051560"/>
            <a:ext cx="2011080" cy="50292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Georgia"/>
              </a:rPr>
              <a:t>311 Data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/>
              </a:rPr>
              <a:t>What’s broken</a:t>
            </a:r>
          </a:p>
        </p:txBody>
      </p:sp>
      <p:sp>
        <p:nvSpPr>
          <p:cNvPr id="15" name="Arrow"/>
          <p:cNvSpPr/>
          <p:nvPr/>
        </p:nvSpPr>
        <p:spPr>
          <a:xfrm>
            <a:off x="4114800" y="16459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185B"/>
                </a:solidFill>
                <a:latin typeface="Calibri"/>
              </a:rPr>
              <a:t>▼</a:t>
            </a:r>
          </a:p>
        </p:txBody>
      </p:sp>
      <p:sp>
        <p:nvSpPr>
          <p:cNvPr id="20" name="WeightBg"/>
          <p:cNvSpPr/>
          <p:nvPr/>
        </p:nvSpPr>
        <p:spPr>
          <a:xfrm>
            <a:off x="457200" y="2011680"/>
            <a:ext cx="8229600" cy="164592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9525">
            <a:solidFill>
              <a:srgbClr val="EEEE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ccBar"/>
          <p:cNvSpPr/>
          <p:nvPr/>
        </p:nvSpPr>
        <p:spPr>
          <a:xfrm>
            <a:off x="457200" y="2011680"/>
            <a:ext cx="54864" cy="164592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Weights"/>
          <p:cNvSpPr/>
          <p:nvPr/>
        </p:nvSpPr>
        <p:spPr>
          <a:xfrm>
            <a:off x="640080" y="2057400"/>
            <a:ext cx="8046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Georgia"/>
              </a:rPr>
              <a:t>40%</a:t>
            </a:r>
            <a:r>
              <a:rPr lang="en-US" sz="1500" b="1" dirty="0">
                <a:solidFill>
                  <a:srgbClr val="37474F"/>
                </a:solidFill>
                <a:latin typeface="Calibri"/>
              </a:rPr>
              <a:t>  Crime incidents</a:t>
            </a:r>
            <a:r>
              <a:rPr lang="en-US" sz="1300" dirty="0">
                <a:solidFill>
                  <a:srgbClr val="78909C"/>
                </a:solidFill>
                <a:latin typeface="Calibri"/>
              </a:rPr>
              <a:t>  —  the most consistent, objective source we have</a:t>
            </a:r>
          </a:p>
          <a:p>
            <a:endParaRPr lang="en-US" sz="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Georgia"/>
              </a:rPr>
              <a:t>25%</a:t>
            </a:r>
            <a:r>
              <a:rPr lang="en-US" sz="1500" b="1" dirty="0">
                <a:solidFill>
                  <a:srgbClr val="37474F"/>
                </a:solidFill>
                <a:latin typeface="Calibri"/>
              </a:rPr>
              <a:t>  Reddit fear ratio</a:t>
            </a:r>
            <a:r>
              <a:rPr lang="en-US" sz="1300" dirty="0">
                <a:solidFill>
                  <a:srgbClr val="78909C"/>
                </a:solidFill>
                <a:latin typeface="Calibri"/>
              </a:rPr>
              <a:t>  —  lived experience that never makes it into a report</a:t>
            </a:r>
          </a:p>
          <a:p>
            <a:endParaRPr lang="en-US" sz="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Georgia"/>
              </a:rPr>
              <a:t>20%</a:t>
            </a:r>
            <a:r>
              <a:rPr lang="en-US" sz="1500" b="1" dirty="0">
                <a:solidFill>
                  <a:srgbClr val="37474F"/>
                </a:solidFill>
                <a:latin typeface="Calibri"/>
              </a:rPr>
              <a:t>  Violent crime %</a:t>
            </a:r>
            <a:r>
              <a:rPr lang="en-US" sz="1300" dirty="0">
                <a:solidFill>
                  <a:srgbClr val="78909C"/>
                </a:solidFill>
                <a:latin typeface="Calibri"/>
              </a:rPr>
              <a:t>  —  5,000 assaults and 5,000 thefts are not the same thing</a:t>
            </a:r>
          </a:p>
          <a:p>
            <a:endParaRPr lang="en-US" sz="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Georgia"/>
              </a:rPr>
              <a:t>10%</a:t>
            </a:r>
            <a:r>
              <a:rPr lang="en-US" sz="1500" b="1" dirty="0">
                <a:solidFill>
                  <a:srgbClr val="37474F"/>
                </a:solidFill>
                <a:latin typeface="Calibri"/>
              </a:rPr>
              <a:t>  311 service requests</a:t>
            </a:r>
            <a:r>
              <a:rPr lang="en-US" sz="1300" dirty="0">
                <a:solidFill>
                  <a:srgbClr val="78909C"/>
                </a:solidFill>
                <a:latin typeface="Calibri"/>
              </a:rPr>
              <a:t>  —  infrastructure tells us what’s been neglected</a:t>
            </a:r>
          </a:p>
          <a:p>
            <a:endParaRPr lang="en-US" sz="7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Georgia"/>
              </a:rPr>
              <a:t>5%</a:t>
            </a:r>
            <a:r>
              <a:rPr lang="en-US" sz="1500" b="1" dirty="0">
                <a:solidFill>
                  <a:srgbClr val="37474F"/>
                </a:solidFill>
                <a:latin typeface="Calibri"/>
              </a:rPr>
              <a:t>  Street lighting</a:t>
            </a:r>
            <a:r>
              <a:rPr lang="en-US" sz="1300" dirty="0">
                <a:solidFill>
                  <a:srgbClr val="78909C"/>
                </a:solidFill>
                <a:latin typeface="Calibri"/>
              </a:rPr>
              <a:t>  —  the one thing women mention most when they feel unsafe</a:t>
            </a:r>
          </a:p>
        </p:txBody>
      </p:sp>
      <p:sp>
        <p:nvSpPr>
          <p:cNvPr id="30" name="High"/>
          <p:cNvSpPr/>
          <p:nvPr/>
        </p:nvSpPr>
        <p:spPr>
          <a:xfrm>
            <a:off x="518672" y="4250808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B71C1C"/>
          </a:solidFill>
          <a:ln>
            <a:noFill/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3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CDD2"/>
                </a:solidFill>
                <a:latin typeface="Calibri"/>
              </a:rPr>
              <a:t>High Risk</a:t>
            </a:r>
          </a:p>
        </p:txBody>
      </p:sp>
      <p:sp>
        <p:nvSpPr>
          <p:cNvPr id="31" name="Med"/>
          <p:cNvSpPr/>
          <p:nvPr/>
        </p:nvSpPr>
        <p:spPr>
          <a:xfrm>
            <a:off x="3443672" y="4250808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E65100"/>
          </a:solidFill>
          <a:ln>
            <a:noFill/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26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E0B2"/>
                </a:solidFill>
                <a:latin typeface="Calibri"/>
              </a:rPr>
              <a:t>Medium Risk</a:t>
            </a:r>
          </a:p>
        </p:txBody>
      </p:sp>
      <p:sp>
        <p:nvSpPr>
          <p:cNvPr id="32" name="Low"/>
          <p:cNvSpPr/>
          <p:nvPr/>
        </p:nvSpPr>
        <p:spPr>
          <a:xfrm>
            <a:off x="6188192" y="4250808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>
            <a:noFill/>
          </a:ln>
        </p:spPr>
        <p:txBody>
          <a:bodyPr wrap="square" lIns="120960" tIns="0" rIns="12096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48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Calibri"/>
              </a:rPr>
              <a:t>Lower Risk</a:t>
            </a:r>
          </a:p>
        </p:txBody>
      </p:sp>
      <p:sp>
        <p:nvSpPr>
          <p:cNvPr id="33" name="BucketLabel"/>
          <p:cNvSpPr/>
          <p:nvPr/>
        </p:nvSpPr>
        <p:spPr>
          <a:xfrm>
            <a:off x="449516" y="3860843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Calibri"/>
              </a:rPr>
              <a:t>Every Chicago neighborhood lands in one of three groups: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Merging Three Sources into One Score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harmonization → normalization → weighted formula → risk classification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06040" cy="64008"/>
          </a:xfrm>
          <a:prstGeom prst="rect">
            <a:avLst/>
          </a:prstGeom>
          <a:solidFill>
            <a:srgbClr val="FF5700"/>
          </a:solidFill>
          <a:ln w="12700">
            <a:solidFill>
              <a:srgbClr val="FF5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F0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Harmonization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uses popular names.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data uses formal names.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395728"/>
            <a:ext cx="2395728" cy="365760"/>
          </a:xfrm>
          <a:prstGeom prst="rect">
            <a:avLst/>
          </a:prstGeom>
          <a:solidFill>
            <a:srgbClr val="FFF5F0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423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Wicker Park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36192" y="24231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42316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Town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825496"/>
            <a:ext cx="23957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852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Pilsen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36192" y="285292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8529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West Side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3255264"/>
            <a:ext cx="2395728" cy="365760"/>
          </a:xfrm>
          <a:prstGeom prst="rect">
            <a:avLst/>
          </a:prstGeom>
          <a:solidFill>
            <a:srgbClr val="FFF5F0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2826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Coast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36192" y="328269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2826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North Side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685032"/>
            <a:ext cx="23957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712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Loop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36192" y="371246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7124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South Side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4114800"/>
            <a:ext cx="2395728" cy="365760"/>
          </a:xfrm>
          <a:prstGeom prst="rect">
            <a:avLst/>
          </a:prstGeom>
          <a:solidFill>
            <a:srgbClr val="FFF5F0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4142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Andersonville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36192" y="414223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414223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Edgewater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45537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mappings total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1115568"/>
            <a:ext cx="2606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46120" y="1115568"/>
            <a:ext cx="26060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832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995928" y="1261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18470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operates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scales.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64992" y="2377440"/>
            <a:ext cx="239572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01568" y="248716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x̃ = (x − x_min) / (x_max − x_min)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0" y="3127248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signal independently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[0, 1] scale so crime counts,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ratios, and 311 volumes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combined fairly.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83280" y="45537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source, independently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1115568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26480" y="1115568"/>
            <a:ext cx="2743200" cy="6400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87628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99632" y="1810512"/>
            <a:ext cx="2596896" cy="566928"/>
          </a:xfrm>
          <a:prstGeom prst="rect">
            <a:avLst/>
          </a:prstGeom>
          <a:solidFill>
            <a:srgbClr val="FCE4EC"/>
          </a:solidFill>
          <a:ln w="1270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36208" y="18470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 = 0.40Cn + 0.25Rn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+ 0.20Vn + 0.10Tn + 0.05Ln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99632" y="2468880"/>
            <a:ext cx="2596896" cy="365760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99632" y="2468880"/>
            <a:ext cx="54864" cy="3657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91072" y="249631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 40%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14032" y="24963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count — most objective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99632" y="2889504"/>
            <a:ext cx="25968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99632" y="2889504"/>
            <a:ext cx="54864" cy="365760"/>
          </a:xfrm>
          <a:prstGeom prst="rect">
            <a:avLst/>
          </a:prstGeom>
          <a:solidFill>
            <a:srgbClr val="FF5700"/>
          </a:solidFill>
          <a:ln w="12700">
            <a:solidFill>
              <a:srgbClr val="FF5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91072" y="291693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 25%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14032" y="291693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fear — lived experience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99632" y="3310128"/>
            <a:ext cx="2596896" cy="365760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99632" y="3310128"/>
            <a:ext cx="54864" cy="3657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91072" y="33375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 20%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114032" y="3337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crime % — severity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99632" y="3730752"/>
            <a:ext cx="25968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199632" y="3730752"/>
            <a:ext cx="54864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91072" y="3758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 10%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114032" y="37581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complaints — infrastructure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99632" y="4151376"/>
            <a:ext cx="2596896" cy="365760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199632" y="4151376"/>
            <a:ext cx="54864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291072" y="41788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  5%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14032" y="41788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lights — women's safety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36208" y="4572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bands: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2402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70" name="Text 68"/>
          <p:cNvSpPr/>
          <p:nvPr/>
        </p:nvSpPr>
        <p:spPr>
          <a:xfrm>
            <a:off x="5120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71" name="Shape 69"/>
          <p:cNvSpPr/>
          <p:nvPr/>
        </p:nvSpPr>
        <p:spPr>
          <a:xfrm>
            <a:off x="365760" y="4773168"/>
            <a:ext cx="85039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 Risk  Sn ≥ 0.65  (3 neighborhoods)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38328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Medium Risk  0.40–0.65  (26 neighborhoods)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21792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Lower Risk  Sn &lt; 0.40  (48 neighborhoods)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Source Agreement Signal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contribution — insights unavailable from any single source alone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46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tells you how a neighborhood ranks. The agreement signal tells you whether data and community agree — and that divergence is often the most important finding.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86007" y="128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Fear (Rn)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49815" y="13349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76097" y="138299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-161484" y="2729682"/>
            <a:ext cx="1184269" cy="7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Count (Cn)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574619" y="3902241"/>
            <a:ext cx="321693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6200000">
            <a:off x="525192" y="1793864"/>
            <a:ext cx="3474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12655" y="1609304"/>
            <a:ext cx="3566160" cy="1508760"/>
          </a:xfrm>
          <a:prstGeom prst="rect">
            <a:avLst/>
          </a:prstGeom>
          <a:solidFill>
            <a:srgbClr val="FFF5F8"/>
          </a:solidFill>
          <a:ln w="12700">
            <a:solidFill>
              <a:srgbClr val="FBCF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83" y="1719032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61295" y="170074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signal concern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22383" y="213965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community agree. Strongest actionable finding.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222383" y="2788880"/>
            <a:ext cx="3346704" cy="256032"/>
          </a:xfrm>
          <a:prstGeom prst="rect">
            <a:avLst/>
          </a:prstGeom>
          <a:solidFill>
            <a:srgbClr val="FBCFE8">
              <a:alpha val="50000"/>
            </a:srgbClr>
          </a:solidFill>
          <a:ln w="12700">
            <a:solidFill>
              <a:srgbClr val="FBCF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77247" y="2807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Austin · Englewood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88543" y="1609304"/>
            <a:ext cx="3566160" cy="1508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271" y="171903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37183" y="170074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more worried than data shows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98271" y="213965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unreported harassment, fear of infrastructure failure, or historical trauma.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98271" y="2788880"/>
            <a:ext cx="3346704" cy="256032"/>
          </a:xfrm>
          <a:prstGeom prst="rect">
            <a:avLst/>
          </a:prstGeom>
          <a:solidFill>
            <a:srgbClr val="FDE68A">
              <a:alpha val="50000"/>
            </a:srgbClr>
          </a:solidFill>
          <a:ln w="12700">
            <a:solidFill>
              <a:srgbClr val="FDE6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53135" y="2807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High fear ratio, moderate crime count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112655" y="3209504"/>
            <a:ext cx="356616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383" y="3319232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61295" y="330094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elevated, community relatively calm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222383" y="373985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genuine improvement residents feel before statistics reflect it.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1222383" y="4389080"/>
            <a:ext cx="3346704" cy="256032"/>
          </a:xfrm>
          <a:prstGeom prst="rect">
            <a:avLst/>
          </a:prstGeom>
          <a:solidFill>
            <a:srgbClr val="BBF7D0">
              <a:alpha val="50000"/>
            </a:srgbClr>
          </a:solidFill>
          <a:ln w="12700">
            <a:solidFill>
              <a:srgbClr val="BBF7D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277247" y="4407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Neighborhood in revitalization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788543" y="3209504"/>
            <a:ext cx="356616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271" y="3319232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37183" y="3300944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reassurance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898271" y="373985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agree this area has lower concern levels.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898271" y="4389080"/>
            <a:ext cx="3346704" cy="256032"/>
          </a:xfrm>
          <a:prstGeom prst="rect">
            <a:avLst/>
          </a:prstGeom>
          <a:solidFill>
            <a:srgbClr val="BFDBFE">
              <a:alpha val="5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953135" y="4407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Lincoln Park · Forest Glen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Surfaced in every neighborhood popup on the interactive map — and anchors the chatbot's perception-gap reasoning.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Chatbot — How It Actually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powered by a hand-crafted knowledge base — no hallucination, no RAG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Design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105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922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neighborhoods × 3 sources loaded into a Python dict at startup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9631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780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— entire KB fits in one GPT-4o context window (structured tabular data)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18211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163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detection: exact string match + difflib fuzzy fallback (60% threshold)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86791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8496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match? Citywide summary of all 77 areas injected so comparative questions work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526280" y="1164525"/>
            <a:ext cx="4251960" cy="35661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526280" y="1188720"/>
            <a:ext cx="4251960" cy="7315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466344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Design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663440" y="1705356"/>
            <a:ext cx="3977640" cy="530352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754880" y="1673352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3-source synthesis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732020" y="18928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 crime, Reddit &amp; 311 into one coherent answer — never source-by-source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663440" y="237744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754880" y="240487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gap first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754880" y="2624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where community fear diverges from reported data — the most valuable insight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663440" y="2999232"/>
            <a:ext cx="3977640" cy="530352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754880" y="302666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constraints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754880" y="3246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"safe", "dangerous", "bad area" banned. Use: "incident levels", "community concern"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663440" y="362102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754880" y="36484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reasoning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754880" y="38679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 "I'm a grad student out late" → model weights night_crime_pct and female_fear_ratio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4242816"/>
            <a:ext cx="3977640" cy="530352"/>
          </a:xfrm>
          <a:prstGeom prst="rect">
            <a:avLst/>
          </a:prstGeom>
          <a:solidFill>
            <a:srgbClr val="FFF5F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754880" y="42702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4-turn memory window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754880" y="44897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session history enables follow-up questions without re-stating context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 of 19 tests passed across 6 question categories  ·  Temperature 0.3 for factual grounding  ·  Azure GPT-4o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in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responses synthesizing all three data sources — grounded in our knowledge base, no hallucination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417320" cy="246888"/>
          </a:xfrm>
          <a:prstGeom prst="roundRect">
            <a:avLst>
              <a:gd name="adj" fmla="val 18519"/>
            </a:avLst>
          </a:prstGeom>
          <a:solidFill>
            <a:srgbClr val="C2185B">
              <a:alpha val="20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79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GAP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39776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517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How is the Loop?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792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[Searching: Loop]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HerWay: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3977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and battery dominate, but violent crime is under 25% of incidents — low for a high-volume area. Reddit is actually reassuring, with only 22% of posts expressing concern. The disconnect: 38% of crime happens at night, yet community sentiment doesn't reflect that — street light outages in the data may explain the gap.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78992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1417320" cy="246888"/>
          </a:xfrm>
          <a:prstGeom prst="roundRect">
            <a:avLst>
              <a:gd name="adj" fmla="val 18519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27448" y="1179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REASONING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499616"/>
            <a:ext cx="39776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82312" y="1517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I'm traveling to Austin at 11am — what should I know?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1792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[Searching: Austin]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20116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HerWay: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212848"/>
            <a:ext cx="3977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11am is one of the quieter windows — peak incidents hit 12am–1am Saturdays. Austin has Chicago's highest crime volume, and Reddit's 34.8% fear ratio reflects that, especially at night. Daytime tends to be lower risk, but the most common locations are streets, so staying aware matters regardless of the hour.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1417320" cy="246888"/>
          </a:xfrm>
          <a:prstGeom prst="roundRect">
            <a:avLst>
              <a:gd name="adj" fmla="val 18519"/>
            </a:avLst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83864"/>
            <a:ext cx="39776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502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Which has more night activity — Englewood or Austin?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3776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[Searching: Austin, Englewood]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995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HerWay: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9709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 identical night rates at 48.7% of incidents between 6pm–6am. Austin's raw volume is far higher, so actual night incident counts are significantly greater. The Reddit gap is striking: Englewood's night fear rate is 67% vs Austin's 40% — residents feel more uneasy despite nearly identical reported patterns.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063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154680"/>
            <a:ext cx="1417320" cy="246888"/>
          </a:xfrm>
          <a:prstGeom prst="roundRect">
            <a:avLst>
              <a:gd name="adj" fmla="val 18519"/>
            </a:avLst>
          </a:prstGeom>
          <a:solidFill>
            <a:srgbClr val="757575">
              <a:alpha val="20000"/>
            </a:srgbClr>
          </a:solidFill>
          <a:ln w="12700">
            <a:solidFill>
              <a:srgbClr val="7575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27448" y="31638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483864"/>
            <a:ext cx="39776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82312" y="3502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What's the weather like in Logan Square?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2312" y="3776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[Searching: Logan Square]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995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HerWay: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419709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HerWay, a neighborhood safety awareness assistant for Chicago. I can only help with questions about neighborhood safety, crime patterns, community discussions, and local infrastructure — let me know if you'd like safety insights on Logan Square instead.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Map Reveals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005840"/>
            <a:ext cx="384048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1188720"/>
            <a:ext cx="1645920" cy="16459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543800" y="3166859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06440" y="3063240"/>
            <a:ext cx="822960" cy="82296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05456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Chicago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Mapped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051560"/>
            <a:ext cx="4389120" cy="84124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1430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11155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Neighborhoods Scored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43000" y="1426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Lower Risk classifications across all community areas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2029968"/>
            <a:ext cx="4389120" cy="84124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121408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09397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Austin: Highest Risk (0.772)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43000" y="2404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11,056 crime incidents combined with a 34.8% Reddit fear ratio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008376"/>
            <a:ext cx="4389120" cy="84124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099816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0723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Agreement Signal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43000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contribution: where community perception and official data diverge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57200" y="3986784"/>
            <a:ext cx="4389120" cy="84124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07822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43000" y="405079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Ratio Declining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1143000" y="4361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(2023) → 20% (2025), despite 7× growth in post volume</a:t>
            </a:r>
            <a:endParaRPr lang="en-US" sz="11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54380EF4-D191-8487-8735-18DF8BE6CDE4}"/>
              </a:ext>
            </a:extLst>
          </p:cNvPr>
          <p:cNvSpPr/>
          <p:nvPr/>
        </p:nvSpPr>
        <p:spPr>
          <a:xfrm>
            <a:off x="5166360" y="4264138"/>
            <a:ext cx="365760" cy="376441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B5B53CE6-FDD1-5EFF-2883-058ADA037475}"/>
              </a:ext>
            </a:extLst>
          </p:cNvPr>
          <p:cNvSpPr/>
          <p:nvPr/>
        </p:nvSpPr>
        <p:spPr>
          <a:xfrm>
            <a:off x="8321040" y="2465582"/>
            <a:ext cx="320040" cy="32333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45720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371600" y="100584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560320" y="64008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011680" y="219456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0" y="320040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45920" y="384048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 Right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114800" y="274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114800" y="914400"/>
            <a:ext cx="4754880" cy="713232"/>
          </a:xfrm>
          <a:prstGeom prst="rect">
            <a:avLst/>
          </a:prstGeom>
          <a:solidFill>
            <a:srgbClr val="F1FBF9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97840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36592" y="9601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informal safety signals invisible in official records — harassment, discomfort, fear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114800" y="1728216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922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36592" y="17739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women's lived experience as the design baseline, not an afterthought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14800" y="2542032"/>
            <a:ext cx="4754880" cy="713232"/>
          </a:xfrm>
          <a:prstGeom prst="rect">
            <a:avLst/>
          </a:prstGeom>
          <a:solidFill>
            <a:srgbClr val="F1FBF9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6060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6592" y="25877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community voice with official data — neither alone tells the full story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114800" y="3355848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419856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36592" y="34015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infrastructure lens via 311 — livability matters beyond crime statistics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114800" y="4169664"/>
            <a:ext cx="4754880" cy="713232"/>
          </a:xfrm>
          <a:prstGeom prst="rect">
            <a:avLst/>
          </a:prstGeom>
          <a:solidFill>
            <a:srgbClr val="F1FBF9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23367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36592" y="42153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agreement signal reveals where perception and data diverge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1005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in our equity coverage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4251960" cy="1719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91440" cy="17190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353312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380744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Reddit's Demographic Blind Spot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17556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English-speaking, tech-savvy users dominate. Elderly, non-English speakers, and low-income communities are nearly invisible — yet most at risk.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46320" y="1188720"/>
            <a:ext cx="4251960" cy="1719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1188720"/>
            <a:ext cx="91440" cy="17190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029200" y="1353312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1380744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Judgment-Based Weighting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74920" y="17556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40/25/20/10/5 formula reflects team intuition, not statistical validation. Different weights could produce meaningfully different neighborhood rankings.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108960"/>
            <a:ext cx="4251960" cy="1719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65760" y="3108960"/>
            <a:ext cx="91440" cy="17190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8640" y="3273552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300984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6758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doesn't update live. A neighborhood that improves or worsens tomorrow won't be reflected until manually refreshed.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46320" y="3108960"/>
            <a:ext cx="4251960" cy="1719072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846320" y="3108960"/>
            <a:ext cx="91440" cy="17190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029200" y="3273552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3300984"/>
            <a:ext cx="448056" cy="4480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074920" y="36758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HerWay describes a neighborhood. It doesn't actively help someone in danger. The people who most need help may benefit least from a research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Other Experts Would Challenge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that would have strengthened HerWay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5196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4173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5389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1938528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311 patterns reflect reporting behavior, not just conditions. Some communities don't call 311 because they've stopped expecting a response."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425196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10912" y="1417320"/>
            <a:ext cx="640080" cy="6400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453896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10912" y="1938528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"Chronic exposure to unsafe environments causes stress beyond individual incidents. Your metrics don't capture cumulative harm."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154680"/>
            <a:ext cx="425196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30352" y="3291840"/>
            <a:ext cx="640080" cy="6400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28416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/ Criminology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0352" y="3813048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"Reddit fear ratios are a proxy, not a validated measure. You need community participation to know if scores reflect how residents actually feel."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3154680"/>
            <a:ext cx="4251960" cy="169164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010912" y="3291840"/>
            <a:ext cx="640080" cy="64008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328416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Organizing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10912" y="3813048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communities most underrepresented in your data are the ones most in need. Design with them, not just for them."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HerWay Goes Next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005840"/>
            <a:ext cx="374904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371600"/>
            <a:ext cx="2560320" cy="2560320"/>
          </a:xfrm>
          <a:prstGeom prst="ellipse">
            <a:avLst/>
          </a:prstGeom>
          <a:solidFill>
            <a:srgbClr val="C2185B">
              <a:alpha val="12000"/>
            </a:srgbClr>
          </a:solidFill>
          <a:ln w="12700">
            <a:solidFill>
              <a:srgbClr val="C2185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26480" y="1828800"/>
            <a:ext cx="1645920" cy="1645920"/>
          </a:xfrm>
          <a:prstGeom prst="ellipse">
            <a:avLst/>
          </a:prstGeom>
          <a:solidFill>
            <a:srgbClr val="C2185B">
              <a:alpha val="22000"/>
            </a:srgbClr>
          </a:solidFill>
          <a:ln w="12700">
            <a:solidFill>
              <a:srgbClr val="C2185B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395728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4023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65760" y="1005840"/>
            <a:ext cx="457200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1133856"/>
            <a:ext cx="429768" cy="4297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70432" y="1399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311, crime feeds &amp; social media — not a frozen snapshot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1965960"/>
            <a:ext cx="457200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502920" y="2057400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2093976"/>
            <a:ext cx="429768" cy="4297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70432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Spanish, Polish, Mandarin-speaking communities invisible in Reddit data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65760" y="2926080"/>
            <a:ext cx="457200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502920" y="3017520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054096"/>
            <a:ext cx="429768" cy="4297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Partnerships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70432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with neighborhood organizations to validate scores and fill data gaps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65760" y="3886200"/>
            <a:ext cx="457200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" y="4014216"/>
            <a:ext cx="429768" cy="4297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70432" y="3959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170432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safety info when and where residents need it most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6576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i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potential: a women's urban intelligence platform scalable beyond Chicago.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E4F">
              <a:alpha val="75000"/>
            </a:srgbClr>
          </a:solidFill>
          <a:ln w="12700">
            <a:solidFill>
              <a:srgbClr val="880E4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502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HerWay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1600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B3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Equitable access to the neighborhood intelligence that longtime residents take for granted.  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2578608"/>
            <a:ext cx="18288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her-way-soremo.vercel.app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Institute of Technology  ·  Spring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Waghray  ·  Sharanya Mishra  ·  Gayathri Ananya Bhooplam Praveen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18872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261872"/>
            <a:ext cx="1773936" cy="17739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explore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1228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her-way-soremo.vercel.app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E4F">
              <a:alpha val="75000"/>
            </a:srgbClr>
          </a:solidFill>
          <a:ln w="12700">
            <a:solidFill>
              <a:srgbClr val="880E4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HerWay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731520" y="2057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B3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Equitable access to the neighborhood intelligence that longtime residents take for granted. 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474720" y="3063240"/>
            <a:ext cx="219456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her-way-soremo.vercel.app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Institute of Technology  ·  Spring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26080" y="434340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438912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03320" y="434340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4389120"/>
            <a:ext cx="411480" cy="4114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80560" y="434340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389120"/>
            <a:ext cx="411480" cy="4114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57800" y="434340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3891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2398</Words>
  <Application>Microsoft Macintosh PowerPoint</Application>
  <PresentationFormat>On-screen Show (16:9)</PresentationFormat>
  <Paragraphs>367</Paragraphs>
  <Slides>23</Slides>
  <Notes>21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Ananya Bhooplam Praveen</cp:lastModifiedBy>
  <cp:revision>20</cp:revision>
  <dcterms:created xsi:type="dcterms:W3CDTF">2026-05-06T01:18:27Z</dcterms:created>
  <dcterms:modified xsi:type="dcterms:W3CDTF">2026-05-06T13:34:27Z</dcterms:modified>
</cp:coreProperties>
</file>